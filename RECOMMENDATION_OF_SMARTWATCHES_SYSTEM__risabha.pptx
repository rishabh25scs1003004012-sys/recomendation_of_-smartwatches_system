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60" r:id="rId3"/>
    <p:sldId id="263" r:id="rId4"/>
    <p:sldId id="26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083" autoAdjust="0"/>
  </p:normalViewPr>
  <p:slideViewPr>
    <p:cSldViewPr snapToGrid="0">
      <p:cViewPr>
        <p:scale>
          <a:sx n="75" d="100"/>
          <a:sy n="75" d="100"/>
        </p:scale>
        <p:origin x="974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13CEF-091B-49BA-92BD-CA7431E5FB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B28127B8-EEEE-4630-BEA8-961E4300E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517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13CEF-091B-49BA-92BD-CA7431E5FB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27B8-EEEE-4630-BEA8-961E4300E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503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84913CEF-091B-49BA-92BD-CA7431E5FB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B28127B8-EEEE-4630-BEA8-961E4300E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524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13CEF-091B-49BA-92BD-CA7431E5FB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27B8-EEEE-4630-BEA8-961E4300E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74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13CEF-091B-49BA-92BD-CA7431E5FB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27B8-EEEE-4630-BEA8-961E4300E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347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13CEF-091B-49BA-92BD-CA7431E5FB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27B8-EEEE-4630-BEA8-961E4300E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818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13CEF-091B-49BA-92BD-CA7431E5FB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27B8-EEEE-4630-BEA8-961E4300E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4233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13CEF-091B-49BA-92BD-CA7431E5FB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27B8-EEEE-4630-BEA8-961E4300E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447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13CEF-091B-49BA-92BD-CA7431E5FBCB}" type="datetimeFigureOut">
              <a:rPr lang="en-IN" smtClean="0"/>
              <a:t>04-11-2025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27B8-EEEE-4630-BEA8-961E4300E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513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13CEF-091B-49BA-92BD-CA7431E5FB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27B8-EEEE-4630-BEA8-961E4300E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722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13CEF-091B-49BA-92BD-CA7431E5FB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27B8-EEEE-4630-BEA8-961E4300E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710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4913CEF-091B-49BA-92BD-CA7431E5FBCB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B28127B8-EEEE-4630-BEA8-961E4300E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209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profile/Imran-Khan-332/publication/380394536_The_Evolving_Role_of_Smart_Watches_in_Health_Tracking/links/663a46c835243041536aa534/The-Evolving-Role-of-Smart-Watches-in-Health-Tracking.pdf" TargetMode="External"/><Relationship Id="rId13" Type="http://schemas.openxmlformats.org/officeDocument/2006/relationships/hyperlink" Target="https://isprs-archives.copernicus.org/articles/XL-1-W5/607/2015/isprsarchives-XL-1-W5-607-2015.pdf" TargetMode="External"/><Relationship Id="rId3" Type="http://schemas.openxmlformats.org/officeDocument/2006/relationships/hyperlink" Target="https://journals.sagepub.com/doi/pdf/10.1177/20552076251355365" TargetMode="External"/><Relationship Id="rId7" Type="http://schemas.openxmlformats.org/officeDocument/2006/relationships/hyperlink" Target="https://pmc.ncbi.nlm.nih.gov/articles/PMC6051724/pdf/nihms929104.pdf" TargetMode="External"/><Relationship Id="rId12" Type="http://schemas.openxmlformats.org/officeDocument/2006/relationships/hyperlink" Target="http://www.whereveriam.org/work/UNIST/Gil-IMWUT18.pdf" TargetMode="External"/><Relationship Id="rId2" Type="http://schemas.openxmlformats.org/officeDocument/2006/relationships/hyperlink" Target="https://researchinnovation.kingston.ac.uk/files/48275867/Kara-P-51694-AAM.pdf" TargetMode="External"/><Relationship Id="rId16" Type="http://schemas.openxmlformats.org/officeDocument/2006/relationships/hyperlink" Target="https://ink.library.smu.edu.sg/cgi/viewcontent.cgi?article=10581&amp;context=sis_research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docs.tib.eu/files/e01fn17/1009495615.pdf" TargetMode="External"/><Relationship Id="rId11" Type="http://schemas.openxmlformats.org/officeDocument/2006/relationships/hyperlink" Target="https://rbafs.org.br/RBAFS/article/download/15333/11398" TargetMode="External"/><Relationship Id="rId5" Type="http://schemas.openxmlformats.org/officeDocument/2006/relationships/hyperlink" Target="https://link.springer.com/content/pdf/10.1186/s12911-023-02350-w.pdf" TargetMode="External"/><Relationship Id="rId15" Type="http://schemas.openxmlformats.org/officeDocument/2006/relationships/hyperlink" Target="https://ieeexplore.ieee.org/iel8/6287639/6514899/10962138.pdf" TargetMode="External"/><Relationship Id="rId10" Type="http://schemas.openxmlformats.org/officeDocument/2006/relationships/hyperlink" Target="https://www.academia.edu/download/110538490/hfm.2073320240117-1-bjom56.pdf" TargetMode="External"/><Relationship Id="rId4" Type="http://schemas.openxmlformats.org/officeDocument/2006/relationships/hyperlink" Target="https://www.academia.edu/download/37222513/wristsense2015.pdf" TargetMode="External"/><Relationship Id="rId9" Type="http://schemas.openxmlformats.org/officeDocument/2006/relationships/hyperlink" Target="https://drive.google.com/file/d/1tI58H9ltt_6sKRYMZVvwv9CJN2jaX42f/view" TargetMode="External"/><Relationship Id="rId14" Type="http://schemas.openxmlformats.org/officeDocument/2006/relationships/hyperlink" Target="https://pure.jgu.edu.in/id/eprint/2668/1/Srivastava2018.pdf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875EF-D925-325A-E5DA-CBFE0E4E6F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340" y="1625599"/>
            <a:ext cx="10053320" cy="2486831"/>
          </a:xfrm>
        </p:spPr>
        <p:txBody>
          <a:bodyPr/>
          <a:lstStyle/>
          <a:p>
            <a:r>
              <a:rPr lang="en-IN" sz="6000" dirty="0">
                <a:solidFill>
                  <a:srgbClr val="FF0000"/>
                </a:solidFill>
                <a:latin typeface="Algerian" panose="04020705040A02060702" pitchFamily="82" charset="0"/>
              </a:rPr>
              <a:t>RECOMMENDATION   OF SMARTWATCHES  SYSTEM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FDE5AD-D988-4AEF-892C-B1C8C9062C16}"/>
              </a:ext>
            </a:extLst>
          </p:cNvPr>
          <p:cNvSpPr txBox="1"/>
          <p:nvPr/>
        </p:nvSpPr>
        <p:spPr>
          <a:xfrm>
            <a:off x="8575040" y="5466080"/>
            <a:ext cx="32613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Rishabh Singh</a:t>
            </a:r>
          </a:p>
          <a:p>
            <a:r>
              <a:rPr lang="en-IN" sz="2800" b="1" dirty="0"/>
              <a:t>25scs1003004012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08822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065C3-CCEF-E0A6-7CE3-4FD66F034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27709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IN" dirty="0"/>
              <a:t>15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5FD73-2F49-F908-593B-66B21ADD4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36732"/>
            <a:ext cx="10515600" cy="6221268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IN" sz="1600" dirty="0">
                <a:hlinkClick r:id="rId2"/>
              </a:rPr>
              <a:t>https://researchinnovation.kingston.ac.uk/files/48275867/Kara-P-51694-AAM.pdf</a:t>
            </a:r>
            <a:endParaRPr lang="en-IN" sz="1600" dirty="0"/>
          </a:p>
          <a:p>
            <a:pPr>
              <a:buFont typeface="+mj-lt"/>
              <a:buAutoNum type="arabicPeriod"/>
            </a:pPr>
            <a:r>
              <a:rPr lang="en-IN" sz="1600" dirty="0">
                <a:hlinkClick r:id="rId3"/>
              </a:rPr>
              <a:t>https://journals.sagepub.com/doi/pdf/10.1177/20552076251355365</a:t>
            </a:r>
            <a:endParaRPr lang="en-IN" sz="1600" dirty="0"/>
          </a:p>
          <a:p>
            <a:pPr>
              <a:buFont typeface="+mj-lt"/>
              <a:buAutoNum type="arabicPeriod"/>
            </a:pPr>
            <a:r>
              <a:rPr lang="en-IN" sz="1600" dirty="0">
                <a:hlinkClick r:id="rId4"/>
              </a:rPr>
              <a:t>https://www.academia.edu/download/37222513/wristsense2015.pdf</a:t>
            </a:r>
            <a:endParaRPr lang="en-IN" sz="1600" dirty="0"/>
          </a:p>
          <a:p>
            <a:pPr>
              <a:buFont typeface="+mj-lt"/>
              <a:buAutoNum type="arabicPeriod"/>
            </a:pPr>
            <a:r>
              <a:rPr lang="en-IN" sz="1600" dirty="0">
                <a:hlinkClick r:id="rId5"/>
              </a:rPr>
              <a:t>https://link.springer.com/content/pdf/10.1186/s12911-023-02350-w.pdf</a:t>
            </a:r>
            <a:endParaRPr lang="en-IN" sz="1600" dirty="0"/>
          </a:p>
          <a:p>
            <a:pPr>
              <a:buFont typeface="+mj-lt"/>
              <a:buAutoNum type="arabicPeriod"/>
            </a:pPr>
            <a:r>
              <a:rPr lang="en-IN" sz="1600" dirty="0">
                <a:hlinkClick r:id="rId6"/>
              </a:rPr>
              <a:t>https://edocs.tib.eu/files/e01fn17/1009495615.pdf</a:t>
            </a:r>
            <a:endParaRPr lang="en-IN" sz="1600" dirty="0"/>
          </a:p>
          <a:p>
            <a:pPr>
              <a:buFont typeface="+mj-lt"/>
              <a:buAutoNum type="arabicPeriod"/>
            </a:pPr>
            <a:r>
              <a:rPr lang="en-IN" sz="1600" dirty="0">
                <a:hlinkClick r:id="rId7"/>
              </a:rPr>
              <a:t>https://pmc.ncbi.nlm.nih.gov/articles/PMC6051724/pdf/nihms929104.pdf</a:t>
            </a:r>
            <a:endParaRPr lang="en-IN" sz="1600" dirty="0"/>
          </a:p>
          <a:p>
            <a:pPr>
              <a:buFont typeface="+mj-lt"/>
              <a:buAutoNum type="arabicPeriod"/>
            </a:pPr>
            <a:r>
              <a:rPr lang="en-IN" sz="1600" dirty="0">
                <a:hlinkClick r:id="rId8"/>
              </a:rPr>
              <a:t>https://www.researchgate.net/profile/Imran-Khan-332/publication/380394536_The_Evolving_Role_of_Smart_Watches_in_Health_Tracking/links/663a46c835243041536aa534/The-Evolving-Role-of-Smart-Watches-in-Health-Tracking.pdf</a:t>
            </a:r>
            <a:endParaRPr lang="en-IN" sz="1600" dirty="0"/>
          </a:p>
          <a:p>
            <a:pPr>
              <a:buFont typeface="+mj-lt"/>
              <a:buAutoNum type="arabicPeriod"/>
            </a:pPr>
            <a:r>
              <a:rPr lang="en-IN" sz="1600" dirty="0">
                <a:hlinkClick r:id="rId9"/>
              </a:rPr>
              <a:t>https://drive.google.com/file/d/1tI58H9ltt_6sKRYMZVvwv9CJN2jaX42f/view</a:t>
            </a:r>
            <a:endParaRPr lang="en-IN" sz="1600" dirty="0"/>
          </a:p>
          <a:p>
            <a:pPr>
              <a:buFont typeface="+mj-lt"/>
              <a:buAutoNum type="arabicPeriod"/>
            </a:pPr>
            <a:r>
              <a:rPr lang="en-IN" sz="1600" dirty="0">
                <a:hlinkClick r:id="rId10"/>
              </a:rPr>
              <a:t>https://www.academia.edu/download/110538490/hfm.2073320240117-1-bjom56.pdf</a:t>
            </a:r>
            <a:endParaRPr lang="en-IN" sz="1600" dirty="0"/>
          </a:p>
          <a:p>
            <a:pPr>
              <a:buFont typeface="+mj-lt"/>
              <a:buAutoNum type="arabicPeriod"/>
            </a:pPr>
            <a:r>
              <a:rPr lang="en-IN" sz="1600" dirty="0">
                <a:hlinkClick r:id="rId11"/>
              </a:rPr>
              <a:t>https://rbafs.org.br/RBAFS/article/download/15333/11398</a:t>
            </a:r>
            <a:endParaRPr lang="en-IN" sz="1600" dirty="0"/>
          </a:p>
          <a:p>
            <a:pPr>
              <a:buFont typeface="+mj-lt"/>
              <a:buAutoNum type="arabicPeriod"/>
            </a:pPr>
            <a:r>
              <a:rPr lang="en-IN" sz="1600" dirty="0">
                <a:hlinkClick r:id="rId12"/>
              </a:rPr>
              <a:t>http://www.whereveriam.org/work/UNIST/Gil-IMWUT18.pdf</a:t>
            </a:r>
            <a:endParaRPr lang="en-IN" sz="1600" dirty="0"/>
          </a:p>
          <a:p>
            <a:pPr>
              <a:buFont typeface="+mj-lt"/>
              <a:buAutoNum type="arabicPeriod"/>
            </a:pPr>
            <a:r>
              <a:rPr lang="en-IN" sz="1600" dirty="0">
                <a:hlinkClick r:id="rId13"/>
              </a:rPr>
              <a:t>https://isprs-archives.copernicus.org/articles/XL-1-W5/607/2015/isprsarchives-XL-1-W5-607-2015.pdf</a:t>
            </a:r>
            <a:endParaRPr lang="en-IN" sz="1600" dirty="0"/>
          </a:p>
          <a:p>
            <a:pPr>
              <a:buFont typeface="+mj-lt"/>
              <a:buAutoNum type="arabicPeriod"/>
            </a:pPr>
            <a:r>
              <a:rPr lang="en-IN" sz="1600" dirty="0">
                <a:hlinkClick r:id="rId14"/>
              </a:rPr>
              <a:t>https://pure.jgu.edu.in/id/eprint/2668/1/Srivastava2018.pdf</a:t>
            </a:r>
            <a:endParaRPr lang="en-IN" sz="1600" dirty="0"/>
          </a:p>
          <a:p>
            <a:pPr>
              <a:buFont typeface="+mj-lt"/>
              <a:buAutoNum type="arabicPeriod"/>
            </a:pPr>
            <a:r>
              <a:rPr lang="en-IN" sz="1600" dirty="0">
                <a:hlinkClick r:id="rId15"/>
              </a:rPr>
              <a:t>https://ieeexplore.ieee.org/iel8/6287639/6514899/10962138.pdf</a:t>
            </a:r>
            <a:endParaRPr lang="en-IN" sz="1600" dirty="0"/>
          </a:p>
          <a:p>
            <a:pPr>
              <a:buFont typeface="+mj-lt"/>
              <a:buAutoNum type="arabicPeriod"/>
            </a:pPr>
            <a:r>
              <a:rPr lang="en-IN" sz="1600" dirty="0">
                <a:hlinkClick r:id="rId16"/>
              </a:rPr>
              <a:t>https://ink.library.smu.edu.sg/cgi/viewcontent.cgi?article=10581&amp;context=sis_research</a:t>
            </a:r>
            <a:endParaRPr lang="en-IN" sz="1600" dirty="0"/>
          </a:p>
          <a:p>
            <a:pPr>
              <a:buFont typeface="+mj-lt"/>
              <a:buAutoNum type="arabicPeriod"/>
            </a:pP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4048685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62333F8-7845-82E5-D33D-F5DF43F5F2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3796800"/>
              </p:ext>
            </p:extLst>
          </p:nvPr>
        </p:nvGraphicFramePr>
        <p:xfrm>
          <a:off x="0" y="0"/>
          <a:ext cx="12156527" cy="60367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18">
                  <a:extLst>
                    <a:ext uri="{9D8B030D-6E8A-4147-A177-3AD203B41FA5}">
                      <a16:colId xmlns:a16="http://schemas.microsoft.com/office/drawing/2014/main" val="1951343869"/>
                    </a:ext>
                  </a:extLst>
                </a:gridCol>
                <a:gridCol w="1653309">
                  <a:extLst>
                    <a:ext uri="{9D8B030D-6E8A-4147-A177-3AD203B41FA5}">
                      <a16:colId xmlns:a16="http://schemas.microsoft.com/office/drawing/2014/main" val="4291599743"/>
                    </a:ext>
                  </a:extLst>
                </a:gridCol>
                <a:gridCol w="3509818">
                  <a:extLst>
                    <a:ext uri="{9D8B030D-6E8A-4147-A177-3AD203B41FA5}">
                      <a16:colId xmlns:a16="http://schemas.microsoft.com/office/drawing/2014/main" val="2984646914"/>
                    </a:ext>
                  </a:extLst>
                </a:gridCol>
                <a:gridCol w="2205095">
                  <a:extLst>
                    <a:ext uri="{9D8B030D-6E8A-4147-A177-3AD203B41FA5}">
                      <a16:colId xmlns:a16="http://schemas.microsoft.com/office/drawing/2014/main" val="3186879289"/>
                    </a:ext>
                  </a:extLst>
                </a:gridCol>
                <a:gridCol w="4140287">
                  <a:extLst>
                    <a:ext uri="{9D8B030D-6E8A-4147-A177-3AD203B41FA5}">
                      <a16:colId xmlns:a16="http://schemas.microsoft.com/office/drawing/2014/main" val="2094858373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r>
                        <a:rPr lang="en-IN" sz="1050" dirty="0"/>
                        <a:t>Sno.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Authors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dirty="0"/>
                        <a:t>Techniques Used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Performance </a:t>
                      </a:r>
                      <a:r>
                        <a:rPr lang="en-IN" sz="1050" dirty="0" err="1"/>
                        <a:t>Matrics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dirty="0"/>
                        <a:t>Drawbacks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78449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n-IN" sz="105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050" dirty="0"/>
                        <a:t>Simon </a:t>
                      </a:r>
                      <a:r>
                        <a:rPr lang="en-IN" sz="1050" dirty="0" err="1"/>
                        <a:t>et.’al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Collected and analyzed 153 user manuals (28 </a:t>
                      </a:r>
                      <a:r>
                        <a:rPr lang="en-US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smartbands</a:t>
                      </a: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125 smartwatches) in PDF format from 5 major manufacturers.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Used ABBYY FineReader 15 for OCR and PDF parsing to extract text.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Developed custom Python scripts (Python 3.10) to convert parsed content into structured HTML, then into CSV for analysis.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Extracted and quantified structural elements: headings (h1–h6), images, ordered/unordered lists, list items, internal references (via bookmarks), external links, word count, and page count.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Conducted a user behavior survey with 105 participants using a structured questionnaire covering demographics, documentation usage patterns, preferred formats, and reasons for consulting manuals.</a:t>
                      </a:r>
                    </a:p>
                    <a:p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Page count (min, avg, max)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Word count (min, avg, max)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Words per chapter (min, avg, max)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 of images (total and per page)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Counts of unordered lists, ordered lists, and list items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 of internal and external references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Distribution of heading levels (h1 to h6)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behavior metrics: frequency of manual use, reasons for use (e.g., troubleshooting, reset), preferred format (PDF, interactive, printed), and correlations with age, gender, education, and professional background.</a:t>
                      </a:r>
                    </a:p>
                    <a:p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Analysis limited to PDF-format documentation only; excluded interactive and printed manuals.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Scope restricted to smartwatches and </a:t>
                      </a:r>
                      <a:r>
                        <a:rPr lang="en-US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smartbands</a:t>
                      </a: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 other wearables (e.g., smart clothing, headsets) not considered.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publication dates available for manuals, preventing temporal or trend analysis.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Survey sample size (105) may not be fully representative; relies on self-reported behavior, which can be biased.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Best practice recommendations are based on observed averages and commonalities, not validated through controlled user testing or effectiveness studies.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Military/defense context highlighted a key limitation: lengthy manuals (avg. 79 pages for watches) are impractical in printed form where searchability is lost.</a:t>
                      </a:r>
                    </a:p>
                    <a:p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72447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n-IN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Balu and P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Wearable multi-sensor data fusion with supervised machine learning, specifically Decision Tree classifiers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Achieved 99.63% accuracy in Human Activity Recognition (HAR)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Sample size not stated; limited details on demographic diversity and real-world validation (lab-based setting likely); generalizability concerns due to lack of ecological validity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48479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n-IN" sz="105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Motti and Caine (or “User Perception Study Authors”)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Qualitative analysis of online user reviews; thematic coding; grounded theory; identification of usability concerns and design principles related to graphic, tactile, and gesture interfaces.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applicable (no algorithmic or quantitative performance metrics). Instead, outcomes include:</a:t>
                      </a:r>
                      <a:br>
                        <a:rPr lang="en-IN" sz="1050" dirty="0"/>
                      </a:br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 Identification of 7 key design recommendations</a:t>
                      </a:r>
                      <a:br>
                        <a:rPr lang="en-IN" sz="1050" dirty="0"/>
                      </a:br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 Classification of user concerns into modalities (graphic, gesture, tactile)</a:t>
                      </a:r>
                      <a:br>
                        <a:rPr lang="en-IN" sz="1050" dirty="0"/>
                      </a:br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 Derivation of interaction principles (e.g., readability, context-awareness, durability)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 Data limited to English-speaking, tech-interested users (lack of demographic diversity)</a:t>
                      </a:r>
                      <a:br>
                        <a:rPr lang="en-US" sz="1050" dirty="0"/>
                      </a:b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 Comments collected up to 2014 (outdated for modern devices)</a:t>
                      </a:r>
                      <a:br>
                        <a:rPr lang="en-US" sz="1050" dirty="0"/>
                      </a:b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 No empirical validation of proposed recommendations</a:t>
                      </a:r>
                      <a:br>
                        <a:rPr lang="en-US" sz="1050" dirty="0"/>
                      </a:b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 Potential bias from self-selected online reviewers</a:t>
                      </a:r>
                      <a:br>
                        <a:rPr lang="en-US" sz="1050" dirty="0"/>
                      </a:b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 Privacy and battery issues noted but not deeply analyzed</a:t>
                      </a: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92271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n-IN" sz="105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Masoumian</a:t>
                      </a:r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Hosseini et al.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Scoping review using Arksey &amp; O’Malley + Levac enhancements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Thematic categorization of 35 selected studies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PRISMA-</a:t>
                      </a:r>
                      <a:r>
                        <a:rPr lang="en-US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ScR</a:t>
                      </a: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reporting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Focus on AI-assisted monitoring across 8 health domains</a:t>
                      </a:r>
                    </a:p>
                    <a:p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Detected atrial fibrillation with high sensitivity (e.g., 99% in Bumgarner et al.)</a:t>
                      </a:r>
                    </a:p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Fall detection: 77% sensitivity, 99% specificity</a:t>
                      </a:r>
                    </a:p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Aggressive </a:t>
                      </a:r>
                      <a:r>
                        <a:rPr lang="en-I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behavior</a:t>
                      </a:r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classification: up to 99.6% accuracy</a:t>
                      </a:r>
                    </a:p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Early COVID-19 detection via resting heart rate anomalies</a:t>
                      </a:r>
                    </a:p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Sleep </a:t>
                      </a:r>
                      <a:r>
                        <a:rPr lang="en-I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apnea</a:t>
                      </a:r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screening with acceptable AHI estimation</a:t>
                      </a:r>
                    </a:p>
                    <a:p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Smartwatch BP measurements show systematic bias (e.g., Samsung Galaxy Watch overestimates low BP, underestimates high BP)</a:t>
                      </a:r>
                    </a:p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Algorithms are opaque (not publicly disclosed), reducing trust</a:t>
                      </a:r>
                    </a:p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Inter-device variability: Apple Watch vs. Garmin vs. Fitbit yield different results</a:t>
                      </a:r>
                    </a:p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FDA/CE-approved for diagnostic use in most cases</a:t>
                      </a:r>
                    </a:p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Limited real-world validation in diverse populations</a:t>
                      </a:r>
                    </a:p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Potential electromagnetic interference with cardiac implants (CIEDs)</a:t>
                      </a:r>
                    </a:p>
                    <a:p>
                      <a:br>
                        <a:rPr lang="en-IN" sz="1050" dirty="0"/>
                      </a:b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99374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n-IN" sz="105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Maier and </a:t>
                      </a:r>
                      <a:r>
                        <a:rPr lang="en-I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Wörndl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Designed and implemented a smartwatch prototype for proactive restaurant recommendations</a:t>
                      </a:r>
                    </a:p>
                    <a:p>
                      <a:pPr lvl="1"/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Evaluated three interaction techniques:</a:t>
                      </a:r>
                    </a:p>
                    <a:p>
                      <a:pPr lvl="2"/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Action Buttons (standard Android Wear pattern—sequential swipe-to-vote)</a:t>
                      </a:r>
                    </a:p>
                    <a:p>
                      <a:pPr lvl="2"/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Two-Button Card (two side-by-side buttons on one screen)</a:t>
                      </a:r>
                    </a:p>
                    <a:p>
                      <a:pPr lvl="2"/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Swipes (left/right swipe with visual feedback via colored circles)</a:t>
                      </a:r>
                    </a:p>
                    <a:p>
                      <a:br>
                        <a:rPr lang="en-US" sz="1050" dirty="0"/>
                      </a:b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Reaction time: TB and SW ~4 seconds vs. AB ~5.9 seconds (p &lt; 0.001)</a:t>
                      </a:r>
                    </a:p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Experience (UEQ):</a:t>
                      </a:r>
                    </a:p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TB scored significantly higher in Efficiency, Perspicuity, and Dependability</a:t>
                      </a:r>
                    </a:p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 scored higher in Stimulation and Novelty</a:t>
                      </a:r>
                    </a:p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Preference: ~48% preferred TB, ~42% preferred SW, ~10% preferred AB</a:t>
                      </a:r>
                    </a:p>
                    <a:p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Only tested on Android Wear (Moto 360)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Participants were university students (limited demographic diversity)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real recommender system—recommendations were pre-defined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Only binary feedback (positive/negative) evaluated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Voice and gesture methods were not implemented, only surveyed</a:t>
                      </a:r>
                    </a:p>
                    <a:p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96156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n-IN" sz="105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King and </a:t>
                      </a:r>
                      <a:r>
                        <a:rPr lang="en-I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Sarrafzadeh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Systematic literature review (PRISMA-style screening of 1,119 articles → 27 included)</a:t>
                      </a:r>
                    </a:p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Thematic classification of applications</a:t>
                      </a:r>
                    </a:p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Sensor and platform analysis (accelerometer, gyroscope, microphone, LCD)</a:t>
                      </a:r>
                    </a:p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Operating system comparison (Android Wear dominant)</a:t>
                      </a:r>
                    </a:p>
                    <a:p>
                      <a:br>
                        <a:rPr lang="en-IN" sz="1050" dirty="0"/>
                      </a:b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 studies were feasibility or usability pilots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Sample sizes very small (e.g., 1–40 participants; many n=1)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efficacy or clinical outcome metrics reported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Success defined by system functionality, not health impact</a:t>
                      </a:r>
                    </a:p>
                    <a:p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RCTs or long-term studies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Heavy reliance on healthy volunteers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Battery life and wearability issues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transmission often required smartphone tethering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Lack of clinical-grade validation</a:t>
                      </a:r>
                    </a:p>
                    <a:p>
                      <a:r>
                        <a:rPr lang="en-US" sz="105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Privacy/security (HIPAA) not addressed in most studies</a:t>
                      </a:r>
                    </a:p>
                    <a:p>
                      <a:endParaRPr lang="en-IN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08792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n-IN" sz="105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Ehsan Valizadeh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Conducted a survey and comparative analysis of smartwatch platforms—specifically Apple Watch and Android Wear—from a developer’s perspective; examined platform features, development frameworks (e.g., </a:t>
                      </a:r>
                      <a:r>
                        <a:rPr lang="en-US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WatchKit</a:t>
                      </a: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 Apple, Android Wear API), and associated tools; developed and presented sample applications on both platforms to demonstrate the app development process.</a:t>
                      </a:r>
                      <a:br>
                        <a:rPr lang="en-US" sz="1050" dirty="0"/>
                      </a:b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Performance Metrics: Not applicable (qualitative study); key outcomes include a side-by-side comparison of platform capabilities, documentation of development workflows, and identification of practical challenges in building smartwatch applications.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b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Focus limited to only two platforms (Apple Watch and Android Wear); findings may be outdated due to rapid advancements in wearable technology since the 2015 publication; challenges such as limited battery life, constrained screen size, and complex user interaction models were noted but not quantitatively evaluated.</a:t>
                      </a:r>
                    </a:p>
                    <a:p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93529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n-IN" sz="105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Fan Mo, Jia Zhou, Shuping Yi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Conducted a controlled user experiment to investigate how user movements (sitting, walking at 3 km/h, running at 6 km/h) and navigation aids (none, static, animated) affect smartwatch interaction; developed three prototype smartwatch interfaces with different navigation aids; used a within-subjects design with 28 participants performing search tasks; measured performance via backend logging and subjective feedback via validated questionnaires (perceived ease of use, usefulness, cognitive workload, flow experience).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Effectiveness: Success rates of solving tasks and operating the interface.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Efficiency: Task completion time, number of irrelevant apps opened, residence time in menu/apps, number of swipes.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Subjective feedback: Perceived ease of use, perceived usefulness, cognitive workload, and flow experience (5-point Likert scales).</a:t>
                      </a:r>
                      <a:b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findings: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Running significantly reduced operating success rates (by 14.29%), perceived ease of use (–13.62%), usefulness (–10.89%), and flow, while increasing cognitive workload (+19.90%).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Walking performance was comparable to sitting.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Animated navigation aids improved task success rates (+7.73% vs. no aids) and were more effective during running.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Static navigation aids improved perceived ease of use (+16.81%), usefulness (+19.42%), and reduced cognitive workload vs. no aids, especially during sitting/walking.</a:t>
                      </a:r>
                    </a:p>
                    <a:p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Small, homogeneous sample (28 college students, mostly novice smartwatch users), limiting generalizability.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Artificial setting (treadmill use) may not reflect real-world mobility contexts (e.g., outdoor walking/running with distractions).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Fixed movement speeds may not capture natural variability in user behavior.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Only one type of animation (shaking + twinkling text) was tested; other animation styles or intensities were not explored.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Menu and app structures were simplified (single hierarchy), which may not reflect complexity of real-world smartwatch apps.</a:t>
                      </a:r>
                    </a:p>
                    <a:p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84415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n-IN" sz="105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Jaemin Chun, </a:t>
                      </a:r>
                      <a:r>
                        <a:rPr lang="en-I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Anind</a:t>
                      </a:r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Dey, </a:t>
                      </a:r>
                      <a:r>
                        <a:rPr lang="en-I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Kyungtaek</a:t>
                      </a:r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Lee, </a:t>
                      </a:r>
                      <a:r>
                        <a:rPr lang="en-I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SeungJun</a:t>
                      </a:r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Kim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Conducted a mixed-methods user study combining qualitative and quantitative approaches: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weeklong online diary study using Experience Sampling Method (ESM) with 30 smartwatch users, collecting 1,673 episodic incidents (802 for smartwatches) across real-world contexts.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Participants evaluated usability three times daily using five custom principles: Information Display, Control, Learnability, Interoperability, and Preference.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Task performance experiments measured accuracy and efficiency in three fundamental touch interactions: number entry (target selection), scrolling, and swiping, using simulated smartwatch and smartphone interfaces.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Semi-structured interviews and open-ended survey responses gathered user requirements and pain points.</a:t>
                      </a:r>
                    </a:p>
                    <a:p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Usability ratings: 5-point Likert-scale responses across 18 sub-questions grouped under five usability principles.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Task performance:</a:t>
                      </a:r>
                    </a:p>
                    <a:p>
                      <a:pPr lvl="1"/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 entry error rate and contact area</a:t>
                      </a:r>
                    </a:p>
                    <a:p>
                      <a:pPr lvl="1"/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Scrolling: task completion time and number of scroll actions</a:t>
                      </a:r>
                    </a:p>
                    <a:p>
                      <a:pPr lvl="1"/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Swiping: number of swiping errors, target selection errors, and completion time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findings:</a:t>
                      </a:r>
                    </a:p>
                    <a:p>
                      <a:pPr lvl="1"/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Smartwatches scored significantly lower than smartphones in Control (e.g., target selection, swiping accuracy) and Learnability for complex tasks like texting and email.</a:t>
                      </a:r>
                    </a:p>
                    <a:p>
                      <a:pPr lvl="1"/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Higher error rates and longer task times on smartwatches (e.g., 7.5× more swiping errors, ~0.12 s slower per input).</a:t>
                      </a:r>
                    </a:p>
                    <a:p>
                      <a:pPr lvl="1"/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Smartwatches excelled in quick-check tasks (time, notifications, activity tracking) and hands-free contexts (driving, exercising).</a:t>
                      </a:r>
                    </a:p>
                    <a:p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Small screen and "fat finger" problem: Led to occlusion, inaccurate taps, and difficulty reading text/icons.</a:t>
                      </a:r>
                    </a:p>
                    <a:p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Poor error recovery: Lack of “undo” or “go back” options (e.g., vanished notifications).</a:t>
                      </a:r>
                    </a:p>
                    <a:p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Interoperability issues: UI/UX inconsistency between watch and phone; latency and sync failures.</a:t>
                      </a:r>
                    </a:p>
                    <a:p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Limited functionality: Inability to view attachments, poor voice recognition in noise, and restricted text input.</a:t>
                      </a:r>
                    </a:p>
                    <a:p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Physical discomfort: Heat generation, bulkiness, and non-ergonomic designs reduced user preference.</a:t>
                      </a:r>
                    </a:p>
                    <a:p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Learnability barriers: Non-intuitive controls (e.g., crown bezel); users defaulted to smartphones due to familiarity.</a:t>
                      </a:r>
                    </a:p>
                    <a:p>
                      <a:b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86286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n-IN" sz="105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José Francisco da Silva, Antonio Henrique Germano-Soares, Luis Carlos Barbosa Silva, Valter Cordeiro Barbosa Filho, Tuillamys Virgínio de Oliveira, Thiago Coelho de Aguiar Silva, Rafael Miranda Tassitano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Conducted a scoping review following Joanna Briggs Institute (JBI) guidelines and PRISMA-</a:t>
                      </a:r>
                      <a:r>
                        <a:rPr lang="en-I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ScR</a:t>
                      </a:r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 identified 12 leading smartwatch manufacturers (≥3% global market share between 2017–2022); </a:t>
                      </a:r>
                      <a:r>
                        <a:rPr lang="en-I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analyzed</a:t>
                      </a:r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143 eligible smartwatch models from official manufacturer websites and the VERSUS database; extracted data on sensors, metrics (physical activity, sedentary </a:t>
                      </a:r>
                      <a:r>
                        <a:rPr lang="en-I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behavior</a:t>
                      </a:r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sleep), and data transfer methods; compared technical specifications across brands.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Sensor prevalence: Photoplethysmography (82.5%), geolocation/GPS (73.4%), gyroscope (67.1%).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 coverage:</a:t>
                      </a:r>
                    </a:p>
                    <a:p>
                      <a:pPr lvl="1"/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Physical activity (PA): 100% (step count, calories, distance in &gt;96% of models).</a:t>
                      </a:r>
                    </a:p>
                    <a:p>
                      <a:pPr lvl="1"/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Sedentary behavior (SB): only 32.2% of models measured SB.</a:t>
                      </a:r>
                    </a:p>
                    <a:p>
                      <a:pPr lvl="1"/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Sleep duration: 93.7%; detailed sleep stages (light, deep, REM) in 26–36% of models.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Simultaneous measurement: Only 32.2% of smartwatches measured PA, SB, and sleep together.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Connectivity: 100% Bluetooth, 55% Wi-Fi, 11.3% mobile network (3G/4G).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Price range: USD 21 to USD 1,771 (most models cheaper than research-grade accelerometers).</a:t>
                      </a:r>
                    </a:p>
                    <a:p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Lack of transparency: Manufacturers rarely disclosed sensor specifications (e.g., number of accelerometer axes—only 25/143 models specified triaxial or 6-axis); no validity or reliability data provided for PA, SB, or sleep metrics.</a:t>
                      </a:r>
                    </a:p>
                    <a:p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Inconsistent SB measurement: Sedentary behavior was the least supported metric; definitions and detection methods were not standardized or explained.</a:t>
                      </a:r>
                    </a:p>
                    <a:p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Ambiguous data sources: It was unclear whether metrics relied solely on accelerometers or fused multiple sensors (PPG, GPS, etc.).</a:t>
                      </a:r>
                    </a:p>
                    <a:p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Limited technical detail: Missing info on Bluetooth/Wi-Fi versions, data storage capacity, transfer frequency, and algorithmic processing logic.</a:t>
                      </a:r>
                    </a:p>
                    <a:p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Exclusion of older/discontinued models: Only included models with ≥3% market share and accelerometer support, potentially omitting niche or research-used devices.</a:t>
                      </a:r>
                    </a:p>
                    <a:p>
                      <a:b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97973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n-IN" sz="105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Hyunjae</a:t>
                      </a:r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Gil, Hongmin Kim, Ian Oakley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Conducted two controlled lab studies (static and dynamic) to evaluate comfort and performance of angular touch input on smartwatches using three finger poses: flat index finger, side of index finger, and </a:t>
                      </a:r>
                      <a:r>
                        <a:rPr lang="en-US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index+middle</a:t>
                      </a: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finger pair; used a Sony Smartwatch 3 with modified Android kernel to capture raw capacitive touch data and compute finger orientation; employed repeated-measures designs with 18 participants per study; included comfort ratings (0–100 scale in static study; 0–20 segmented scale in dynamic study) alongside objective metrics (preparation time, touch time, angular accuracy, error rates); derived design recommendations and implemented interaction prototypes (angle menus, sliders, flex-swipes, region-aware rotation), which were evaluated in a final qualitative study with 10 users.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Static Study:</a:t>
                      </a:r>
                    </a:p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Comfort ratings (mean = 37 on 0–100 scale)</a:t>
                      </a:r>
                    </a:p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Preparation time (mean &gt;1000 </a:t>
                      </a:r>
                      <a:r>
                        <a:rPr lang="en-I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most awkward poses)</a:t>
                      </a:r>
                    </a:p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Touch time (pair touches fastest: ~121 </a:t>
                      </a:r>
                      <a:r>
                        <a:rPr lang="en-I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faster than flat/side)</a:t>
                      </a:r>
                    </a:p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Angular accuracy (mean absolute error = 3.7°, SD = 2.47°)</a:t>
                      </a:r>
                    </a:p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Dynamic Study:</a:t>
                      </a:r>
                    </a:p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Comfort ratings (mean = 11.08 on 0–20 scale ≈ 55% discomfort, higher than static)</a:t>
                      </a:r>
                    </a:p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Throughput (side: 1.79 bits/s; flat/pair: ~1.61–1.62 bits/s)</a:t>
                      </a:r>
                    </a:p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Initial touch error rate (pair: 6.2%; lower than flat/side)</a:t>
                      </a:r>
                    </a:p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Final selection error (near zero with 15° targets; high with 5° targets)</a:t>
                      </a:r>
                    </a:p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Application Study: Qualitative feedback on comfort, learnability, performance, and interaction design.</a:t>
                      </a:r>
                    </a:p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Findings:</a:t>
                      </a:r>
                    </a:p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Comfortable angular input ranges differ by finger pose:</a:t>
                      </a:r>
                    </a:p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Side: 60°–180°</a:t>
                      </a:r>
                    </a:p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Flat: 90°–180°</a:t>
                      </a:r>
                    </a:p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Pair: 0°–90° and 180°–270°</a:t>
                      </a:r>
                    </a:p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Side-finger input enables fastest dynamic performance (due to finger flexion).</a:t>
                      </a:r>
                    </a:p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Pair touches yield highest static touch speed and lowest initial error.</a:t>
                      </a:r>
                    </a:p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Comfort is independent of on-screen accuracy/time but moderately correlates with preparation time.</a:t>
                      </a:r>
                    </a:p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Users found prototype interactions (e.g., angle menus, flex-swipes) comfortable and expressive when aligned with recommended pose-angle mappings.</a:t>
                      </a:r>
                    </a:p>
                    <a:p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Narrow comfort definition: Focused only on yaw (in-plane) angles; excluded pitch/roll or long-term wearability.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Artificial lab setting: Participants stood still; findings may not generalize to real-world mobile or encumbered use (e.g., walking, carrying items).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Limited sensing accuracy: Used heuristic algorithm (Xiao et al., 2015) with ~10° error; more advanced methods (e.g., deep learning) were not tested due to smartwatch computational constraints.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Homogeneous sample: All participants were young, right-handed university students; results may not apply to older adults or left-handed users.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Inconsistent comfort measurement: Different scales and timing (repeated ratings vs. post-condition questionnaire) across studies limit direct comparison.</a:t>
                      </a:r>
                    </a:p>
                    <a:p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30491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n-IN" sz="105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V. Razavi Termeh, A. Sadeghi Niaraki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Designed and implemented a Ubiquitous Health (U-Health) system leveraging smartwatch sensors (e.g., heart rate monitor, ultraviolet sensor) and smartphone capabilities; heart rate and UV data are transmitted via Bluetooth or Wi-Fi from the smartwatch to a smartphone app; the system performs real-time health analysis, integrates GIS and GPS for location tracking and route planning, uses the smartphone’s accelerometer to detect steep paths, and triggers alerts (SMS, phone call, on-device warning) during abnormal heart rate or UV exposure; the system includes user-type classification (e.g., adult male/female, child) to personalize heart rate thresholds.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Heart rate monitoring aligned with age- and gender-specific normal ranges (e.g., 60–100 bpm for adult men, 76–86 for adult women).</a:t>
                      </a:r>
                    </a:p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Real-time alerting for abnormal heart rates (bradycardia/tachycardia) and high UV exposure.</a:t>
                      </a:r>
                    </a:p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Location tracking via GPS and geospatial visualization on maps.</a:t>
                      </a:r>
                    </a:p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Context-aware notifications (e.g., medication reminders, path steepness alerts via accelerometer).</a:t>
                      </a:r>
                    </a:p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 evaluated through architecture design, use case and class diagrams, and algorithmic workflow—no empirical user study or quantitative accuracy metrics reported.</a:t>
                      </a:r>
                    </a:p>
                    <a:p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Dependency on device wear: System requires the patient to consistently wear the smartwatch; no data is collected if the device is removed.</a:t>
                      </a:r>
                    </a:p>
                    <a:p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Limited sensor scope: Only heart rate and UV sensors are utilized; does not integrate other common health metrics (e.g., blood oxygen, sleep, activity levels).</a:t>
                      </a:r>
                    </a:p>
                    <a:p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validation data: Lacks empirical testing (e.g., accuracy of heart rate detection, false alarm rates, user compliance, or clinical validation).</a:t>
                      </a:r>
                    </a:p>
                    <a:p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Assumes connectivity: Relies on Bluetooth/Wi-Fi and mobile network availability for data transmission and alerting; may fail in remote or low-connectivity areas.</a:t>
                      </a:r>
                    </a:p>
                    <a:p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Simplified health logic: Uses basic threshold-based rules without adaptive or AI-driven analytics for complex arrhythmia detection (e.g., atrial fibrillation) or contextual interpretation.</a:t>
                      </a:r>
                    </a:p>
                    <a:p>
                      <a:b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87138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n-IN" sz="105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Sudipendra</a:t>
                      </a:r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Nath Roy, Shashi Kant Srivastava, Raj Gururajan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Conducted a conceptual literature review and framework development integrating wearable health devices with health recommendation systems (HRS); synthesized knowledge from medicine, information technology, engineering, and business studies; mapped an end-to-end health-monitoring service delivery model using a five-block structure grounded in the Medical System Delivery Framework (MSDF) and recommender system (RS) theory; identified data types (activity, health metrics, biomarkers, location) and health recommendation levels (L1–L4) based on medical criticality.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an empirical study; no quantitative performance metrics reported.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Framework evaluated against service delivery principles: efficacy, coordination, continuity, participation, and economy.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outcomes include a validated conceptual model with five integrated blocks:</a:t>
                      </a:r>
                    </a:p>
                    <a:p>
                      <a:pPr lvl="1"/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Hardware (B1): Wearables + smartphone for real-time data capture.</a:t>
                      </a:r>
                    </a:p>
                    <a:p>
                      <a:pPr lvl="1"/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Software (B2): Mobile apps (iOS/Android) for initial data screening and short-term storage.</a:t>
                      </a:r>
                    </a:p>
                    <a:p>
                      <a:pPr lvl="1"/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Information Unit (B3): Cloud and data servers for secure, long-term health data storage.</a:t>
                      </a:r>
                    </a:p>
                    <a:p>
                      <a:pPr lvl="1"/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Analytics Unit (B4): Data scientists, statisticians, and health informatics professionals performing predictive/prescriptive modeling.</a:t>
                      </a:r>
                    </a:p>
                    <a:p>
                      <a:pPr lvl="1"/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Recommendation Unit (B5): Clinical and wellness professionals (doctors, nutritionists, fitness experts) generating personalized, context-aware health advice.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Health recommendations categorized by criticality:</a:t>
                      </a:r>
                    </a:p>
                    <a:p>
                      <a:pPr lvl="1"/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L1: Wellness/fitness advice (non-clinical).</a:t>
                      </a:r>
                    </a:p>
                    <a:p>
                      <a:pPr lvl="1"/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L2/L3: Condition-specific alerts (e.g., elevated BP, glucose).</a:t>
                      </a:r>
                    </a:p>
                    <a:p>
                      <a:pPr lvl="1"/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L4: Emergency interventions (e.g., cardiac arrest), including location-based emergency support.</a:t>
                      </a:r>
                    </a:p>
                    <a:p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Conceptual, not validated: Framework lacks empirical testing with real users or clinical trials; validation remains future work.</a:t>
                      </a:r>
                    </a:p>
                    <a:p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Regulatory and security gaps: While PHI (Protected Health Information) and data encryption are acknowledged, detailed protocols for compliance (e.g., HIPAA, GDPR) and cybersecurity (e.g., device hacking risks like insulin pumps) are not addressed.</a:t>
                      </a:r>
                    </a:p>
                    <a:p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Interoperability challenges: Assumes seamless integration between diverse wearable platforms, mobile OS, cloud infrastructure, and healthcare systems—without tackling standardization or API compatibility issues.</a:t>
                      </a:r>
                    </a:p>
                    <a:p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Scalability and cost: Does not discuss affordability, accessibility for low-income populations, or operational costs of maintaining multidisciplinary backend teams (B4/B5).</a:t>
                      </a:r>
                    </a:p>
                    <a:p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Dependence on user compliance: Effectiveness assumes consistent wearable use and accurate self-reported context, which may not hold in real-world settings.</a:t>
                      </a:r>
                    </a:p>
                    <a:p>
                      <a:b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3525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n-IN" sz="105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Rui P. Duarte, Valter N. N. Alves, Mickael Mota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Conducted a systematic literature review and synthesis to develop smartwatch-specific design guidelines for older adults (aged 65+); analyzed 161 existing design guidelines from seven studies focused on mobile, web, and wearable interfaces for older users; reformulated, merged, split, and filtered these “reference guidelines” based on smartwatch constraints (e.g., small screen size, wrist-worn form factor); applied a multi-criteria classification framework across five challenge domains (Visual, Hearing, Motor, Cognitive, Motivational); created a Figma-based design system with concrete interface examples (e.g., medication reminders, fall detection alerts) to illustrate each proposed guideline.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an empirical user study; no quantitative performance metrics reported.</a:t>
                      </a:r>
                    </a:p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Output: 21 actionable design guidelines and a prototype design system validated through benchmarking against prior work (e.g., Samaddar et al., 2023).</a:t>
                      </a:r>
                    </a:p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design themes from guidelines:</a:t>
                      </a:r>
                    </a:p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Visual: Large buttons/text, high contrast, warm </a:t>
                      </a:r>
                      <a:r>
                        <a:rPr lang="en-I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colors</a:t>
                      </a:r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decluttered interfaces.</a:t>
                      </a:r>
                    </a:p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Hearing: Loud but adjustable sound, low-frequency tones, multisensory feedback.</a:t>
                      </a:r>
                    </a:p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Motor: Simple gestures (tap, scroll), ample spacing, error recovery.</a:t>
                      </a:r>
                    </a:p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Cognitive: Plain language, clear </a:t>
                      </a:r>
                      <a:r>
                        <a:rPr lang="en-IN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icons+text</a:t>
                      </a:r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hierarchical information, no time pressure.</a:t>
                      </a:r>
                    </a:p>
                    <a:p>
                      <a:pPr lvl="1"/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Motivational: Customization, privacy controls, emotional resonance, assistance/support.</a:t>
                      </a:r>
                    </a:p>
                    <a:p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empirical validation: Guidelines and design system were not tested with older adult users; usability, effectiveness, and adoption potential remain unverified.</a:t>
                      </a:r>
                    </a:p>
                    <a:p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Generalizability concerns: Derived from literature synthesis only; may not capture real-world nuances of diverse older adult populations (e.g., varying tech literacy, health conditions, cultural backgrounds).</a:t>
                      </a:r>
                    </a:p>
                    <a:p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Device diversity: Examples shown for round, square, and rectangular smartwatches, but no evidence on which form factor is optimal for older users.</a:t>
                      </a:r>
                    </a:p>
                    <a:p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Implementation trade-offs: Some guidelines may conflict with smartwatch constraints (e.g., “large buttons” vs. limited screen real estate; “avoid scrolling” vs. necessity on small displays), requiring careful balancing by designers.</a:t>
                      </a:r>
                    </a:p>
                    <a:p>
                      <a:r>
                        <a:rPr lang="en-US" sz="10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Lack of quantitative specs: Guidelines are qualitative; do not specify exact button sizes, font points, spacing in pixels, or contrast ratios validated for older adults on smartwatch screens.</a:t>
                      </a:r>
                    </a:p>
                    <a:p>
                      <a:b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08883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n-IN" sz="105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Apurva Adapa, Fiona Fui-Hoon Nah, Richard H. Hall, Keng Siau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Conducted in-depth qualitative interviews using the laddering methodology (a means-end chain approach) to explore the underlying personal values driving adoption decisions; studied two smart wearable devices—Google Glass (smart glasses) and Sony </a:t>
                      </a:r>
                      <a:r>
                        <a:rPr lang="en-US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SmartWatch</a:t>
                      </a: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3 (smart watch); used triadic sorting (comparing Google Glass, </a:t>
                      </a:r>
                      <a:r>
                        <a:rPr lang="en-US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SmartWatch</a:t>
                      </a: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and smartphone) and preference-consumption differences to elicit distinctions; involved 25 participants (15 students, 10 working professionals) who tried each device for 5 minutes before being interviewed; factors were rated on a 5-point importance scale and laddered from attributes → consequences → personal values.</a:t>
                      </a:r>
                      <a:br>
                        <a:rPr lang="en-US" sz="1050" dirty="0"/>
                      </a:b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Performance Metrics: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quantitative; the study identified key adoption factors and their linkages to user values through thematic analysis.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Primary contributing factors:</a:t>
                      </a:r>
                    </a:p>
                    <a:p>
                      <a:pPr lvl="1"/>
                      <a:r>
                        <a:rPr lang="en-US" sz="105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Smart glasses</a:t>
                      </a: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Look-and-feel (linked to </a:t>
                      </a:r>
                      <a:r>
                        <a:rPr lang="en-US" sz="105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image, sense of belonging</a:t>
                      </a: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  <a:p>
                      <a:pPr lvl="1"/>
                      <a:r>
                        <a:rPr lang="en-US" sz="105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Smart watch</a:t>
                      </a: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Availability of fitness apps (linked to </a:t>
                      </a:r>
                      <a:r>
                        <a:rPr lang="en-US" sz="105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health, value for money</a:t>
                      </a: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Primary inhibiting factors:</a:t>
                      </a:r>
                    </a:p>
                    <a:p>
                      <a:pPr lvl="1"/>
                      <a:r>
                        <a:rPr lang="en-US" sz="105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Both devices</a:t>
                      </a: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Battery life, privacy concerns, weight/bulkiness.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Common personal values influencing decisions: Image, value for money, health, family value, sense of belonging.</a:t>
                      </a:r>
                    </a:p>
                    <a:p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Small, homogeneous sample: Participants were from a single Midwestern U.S. university, limiting generalizability (may be more tech-accepting than general population).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Limited device scope: Only one model each of smart glasses (Google Glass) and smart watch (Sony </a:t>
                      </a:r>
                      <a:r>
                        <a:rPr lang="en-US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SmartWatch</a:t>
                      </a:r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3) was tested; results may not apply to newer or different form factors (e.g., earbuds, rings).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Lack of prior experience: Most participants had little/no prior experience with wearables, which may skew perceptions compared to real-world, long-term users.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demographic analysis: Did not deeply explore how factors like age, gender, or culture moderate adoption decisions beyond broad student/professional groupings.</a:t>
                      </a:r>
                    </a:p>
                    <a:p>
                      <a:r>
                        <a:rPr lang="en-US" sz="10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Static evaluation: 5-minute trial may not capture usability or value perceptions that emerge during sustained, real-world use.</a:t>
                      </a:r>
                    </a:p>
                    <a:p>
                      <a:endParaRPr lang="en-IN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197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9497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AAA7A-EF0A-BF66-72A9-244D22B18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3" y="75623"/>
            <a:ext cx="10515600" cy="632402"/>
          </a:xfrm>
        </p:spPr>
        <p:txBody>
          <a:bodyPr>
            <a:normAutofit fontScale="90000"/>
          </a:bodyPr>
          <a:lstStyle/>
          <a:p>
            <a:r>
              <a:rPr lang="en-IN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89899-1D56-3130-0AEC-190A7105A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475" y="708025"/>
            <a:ext cx="10515600" cy="6074352"/>
          </a:xfrm>
        </p:spPr>
        <p:txBody>
          <a:bodyPr>
            <a:normAutofit fontScale="85000" lnSpcReduction="20000"/>
          </a:bodyPr>
          <a:lstStyle/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Simon, A.,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Szy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L., Kara, P. A., &amp; Guindy, M. (2022, June). Who watches the watches: on the delivery of the specifications of smart wearable devices and recommendations on the related best practices. In 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Smart Biomedical and Physiological Sensor Technology XIX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(Vol. 12123, pp. 10-41). SPIE.</a:t>
            </a:r>
            <a:endParaRPr lang="en-IN" sz="1400" dirty="0"/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IN" sz="1400" dirty="0">
                <a:effectLst/>
                <a:latin typeface="Arial" panose="020B0604020202020204" pitchFamily="34" charset="0"/>
              </a:rPr>
              <a:t>Jubair, H., &amp; </a:t>
            </a:r>
            <a:r>
              <a:rPr lang="en-IN" sz="1400" dirty="0" err="1">
                <a:effectLst/>
                <a:latin typeface="Arial" panose="020B0604020202020204" pitchFamily="34" charset="0"/>
              </a:rPr>
              <a:t>Mehenaz</a:t>
            </a:r>
            <a:r>
              <a:rPr lang="en-IN" sz="1400" dirty="0">
                <a:effectLst/>
                <a:latin typeface="Arial" panose="020B0604020202020204" pitchFamily="34" charset="0"/>
              </a:rPr>
              <a:t>, M. (2025). Utilizing machine learning algorithms for personalized workout recommendations and monitoring: A systematic review on smartwatch-assisted exercise prescription. </a:t>
            </a:r>
            <a:r>
              <a:rPr lang="en-IN" sz="1400" i="1" dirty="0">
                <a:effectLst/>
                <a:latin typeface="Arial" panose="020B0604020202020204" pitchFamily="34" charset="0"/>
              </a:rPr>
              <a:t>Digital health</a:t>
            </a:r>
            <a:r>
              <a:rPr lang="en-IN" sz="1400" dirty="0">
                <a:effectLst/>
                <a:latin typeface="Arial" panose="020B0604020202020204" pitchFamily="34" charset="0"/>
              </a:rPr>
              <a:t>, </a:t>
            </a:r>
            <a:r>
              <a:rPr lang="en-IN" sz="1400" i="1" dirty="0">
                <a:effectLst/>
                <a:latin typeface="Arial" panose="020B0604020202020204" pitchFamily="34" charset="0"/>
              </a:rPr>
              <a:t>11</a:t>
            </a:r>
            <a:r>
              <a:rPr lang="en-IN" sz="1400" dirty="0">
                <a:effectLst/>
                <a:latin typeface="Arial" panose="020B0604020202020204" pitchFamily="34" charset="0"/>
              </a:rPr>
              <a:t>, 20552076251355365.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sz="1400" dirty="0">
                <a:effectLst/>
                <a:latin typeface="Arial" panose="020B0604020202020204" pitchFamily="34" charset="0"/>
              </a:rPr>
              <a:t>Lowens, B., Motti, V., &amp; Caine, K. (2015, March). Design recommendations to improve the user interaction with wrist worn devices. In </a:t>
            </a:r>
            <a:r>
              <a:rPr lang="en-US" sz="1400" i="1" dirty="0">
                <a:effectLst/>
                <a:latin typeface="Arial" panose="020B0604020202020204" pitchFamily="34" charset="0"/>
              </a:rPr>
              <a:t>2015 IEEE international conference on pervasive computing and communication workshops (</a:t>
            </a:r>
            <a:r>
              <a:rPr lang="en-US" sz="1400" i="1" dirty="0" err="1">
                <a:effectLst/>
                <a:latin typeface="Arial" panose="020B0604020202020204" pitchFamily="34" charset="0"/>
              </a:rPr>
              <a:t>PerCom</a:t>
            </a:r>
            <a:r>
              <a:rPr lang="en-US" sz="1400" i="1" dirty="0">
                <a:effectLst/>
                <a:latin typeface="Arial" panose="020B0604020202020204" pitchFamily="34" charset="0"/>
              </a:rPr>
              <a:t> Workshops)</a:t>
            </a:r>
            <a:r>
              <a:rPr lang="en-US" sz="1400" dirty="0">
                <a:effectLst/>
                <a:latin typeface="Arial" panose="020B0604020202020204" pitchFamily="34" charset="0"/>
              </a:rPr>
              <a:t> (pp. 562-567). IEEE.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IN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Masoumian</a:t>
            </a:r>
            <a:r>
              <a:rPr lang="en-IN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Hosseini, M., </a:t>
            </a:r>
            <a:r>
              <a:rPr lang="en-IN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Masoumian</a:t>
            </a:r>
            <a:r>
              <a:rPr lang="en-IN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Hosseini, S. T., Qayumi, K., Hosseinzadeh, S., &amp; Sajadi Tabar, S. S. (2023). Smartwatches in healthcare medicine: assistance and monitoring; a scoping review. </a:t>
            </a:r>
            <a:r>
              <a:rPr lang="en-IN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BMC Medical Informatics and Decision Making</a:t>
            </a:r>
            <a:r>
              <a:rPr lang="en-IN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IN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23</a:t>
            </a:r>
            <a:r>
              <a:rPr lang="en-IN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(1), 248</a:t>
            </a:r>
            <a:endParaRPr lang="en-IN" sz="1400" dirty="0"/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Maier, J., &amp;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Wörndl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W. (2015). Rating methods for proactive recommendation on smartwatches.</a:t>
            </a:r>
            <a:endParaRPr lang="en-IN" sz="1400" dirty="0"/>
          </a:p>
          <a:p>
            <a:pPr>
              <a:buFont typeface="+mj-lt"/>
              <a:buAutoNum type="arabicPeriod"/>
            </a:pPr>
            <a:r>
              <a:rPr lang="en-US" sz="1400" dirty="0"/>
              <a:t>King, C. E., &amp; </a:t>
            </a:r>
            <a:r>
              <a:rPr lang="en-US" sz="1400" dirty="0" err="1"/>
              <a:t>Sarrafzadeh</a:t>
            </a:r>
            <a:r>
              <a:rPr lang="en-US" sz="1400" dirty="0"/>
              <a:t>, M. (2018). A survey of smartwatches in remote health monitoring. </a:t>
            </a:r>
            <a:r>
              <a:rPr lang="en-US" sz="1400" i="1" dirty="0"/>
              <a:t>Journal of healthcare informatics research</a:t>
            </a:r>
            <a:r>
              <a:rPr lang="en-US" sz="1400" dirty="0"/>
              <a:t>, </a:t>
            </a:r>
            <a:r>
              <a:rPr lang="en-US" sz="1400" i="1" dirty="0"/>
              <a:t>2</a:t>
            </a:r>
            <a:r>
              <a:rPr lang="en-US" sz="1400" dirty="0"/>
              <a:t>(1), 1-24.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Khan, I. A., Mishra, S., &amp; Dwivedi, P. (2024). The Evolving Role of Smart Watches in Health Tracking. </a:t>
            </a:r>
            <a:r>
              <a:rPr lang="en-US" sz="1400" i="1" dirty="0"/>
              <a:t>The Indian Practitioner</a:t>
            </a:r>
            <a:r>
              <a:rPr lang="en-US" sz="1400" dirty="0"/>
              <a:t>, </a:t>
            </a:r>
            <a:r>
              <a:rPr lang="en-US" sz="1400" i="1" dirty="0"/>
              <a:t>77</a:t>
            </a:r>
            <a:r>
              <a:rPr lang="en-US" sz="1400" dirty="0"/>
              <a:t>(4), 26-29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Mo, F., Zhou, J., &amp; Yi, S. (2017). Adapting the navigation interface of smart watches to user movements. </a:t>
            </a:r>
            <a:r>
              <a:rPr lang="en-US" sz="1400" i="1" dirty="0"/>
              <a:t>International Journal of Human–Computer Interaction</a:t>
            </a:r>
            <a:r>
              <a:rPr lang="en-US" sz="1400" dirty="0"/>
              <a:t>, </a:t>
            </a:r>
            <a:r>
              <a:rPr lang="en-US" sz="1400" i="1" dirty="0"/>
              <a:t>33</a:t>
            </a:r>
            <a:r>
              <a:rPr lang="en-US" sz="1400" dirty="0"/>
              <a:t>(6), 460-474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Chun, J., Dey, A., Lee, K., &amp; Kim, S. (2018). A qualitative study of smartwatch usage and its usability. </a:t>
            </a:r>
            <a:r>
              <a:rPr lang="en-US" sz="1400" i="1" dirty="0"/>
              <a:t>Human Factors and Ergonomics in Manufacturing &amp; Service Industries</a:t>
            </a:r>
            <a:r>
              <a:rPr lang="en-US" sz="1400" dirty="0"/>
              <a:t>, </a:t>
            </a:r>
            <a:r>
              <a:rPr lang="en-US" sz="1400" i="1" dirty="0"/>
              <a:t>28</a:t>
            </a:r>
            <a:r>
              <a:rPr lang="en-US" sz="1400" dirty="0"/>
              <a:t>(4), 186-199</a:t>
            </a:r>
          </a:p>
          <a:p>
            <a:pPr>
              <a:buFont typeface="+mj-lt"/>
              <a:buAutoNum type="arabicPeriod"/>
            </a:pPr>
            <a:r>
              <a:rPr lang="en-IN" sz="1400" dirty="0"/>
              <a:t>da Silva, J. F., Germano-Soares, A. H., Silva, L. C. B., Barbosa Filho, V. C., de Oliveira, T. V., de Aguiar Silva, T. C., &amp; </a:t>
            </a:r>
            <a:r>
              <a:rPr lang="en-IN" sz="1400" dirty="0" err="1"/>
              <a:t>Tassitano</a:t>
            </a:r>
            <a:r>
              <a:rPr lang="en-IN" sz="1400" dirty="0"/>
              <a:t>, R. M. (2024). Smartwatches and measurement of physical activity, sedentary </a:t>
            </a:r>
            <a:r>
              <a:rPr lang="en-IN" sz="1400" dirty="0" err="1"/>
              <a:t>behavior</a:t>
            </a:r>
            <a:r>
              <a:rPr lang="en-IN" sz="1400" dirty="0"/>
              <a:t>, and sleep: a scoping review. </a:t>
            </a:r>
            <a:r>
              <a:rPr lang="en-IN" sz="1400" i="1" dirty="0" err="1"/>
              <a:t>Revista</a:t>
            </a:r>
            <a:r>
              <a:rPr lang="en-IN" sz="1400" i="1" dirty="0"/>
              <a:t> Brasileira de </a:t>
            </a:r>
            <a:r>
              <a:rPr lang="en-IN" sz="1400" i="1" dirty="0" err="1"/>
              <a:t>Atividade</a:t>
            </a:r>
            <a:r>
              <a:rPr lang="en-IN" sz="1400" i="1" dirty="0"/>
              <a:t> </a:t>
            </a:r>
            <a:r>
              <a:rPr lang="en-IN" sz="1400" i="1" dirty="0" err="1"/>
              <a:t>Física</a:t>
            </a:r>
            <a:r>
              <a:rPr lang="en-IN" sz="1400" i="1" dirty="0"/>
              <a:t> &amp; </a:t>
            </a:r>
            <a:r>
              <a:rPr lang="en-IN" sz="1400" i="1" dirty="0" err="1"/>
              <a:t>Saúde</a:t>
            </a:r>
            <a:r>
              <a:rPr lang="en-IN" sz="1400" dirty="0"/>
              <a:t>, </a:t>
            </a:r>
            <a:r>
              <a:rPr lang="en-IN" sz="1400" i="1" dirty="0"/>
              <a:t>29</a:t>
            </a:r>
            <a:r>
              <a:rPr lang="en-IN" sz="1400" dirty="0"/>
              <a:t>, 1-22.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Gil, H., Kim, H., &amp; Oakley, I. (2018). Fingers and angles: exploring the comfort of touch input on smartwatches. </a:t>
            </a:r>
            <a:r>
              <a:rPr lang="en-US" sz="1400" i="1" dirty="0"/>
              <a:t>Proceedings of the ACM on Interactive, Mobile, Wearable and Ubiquitous Technologies</a:t>
            </a:r>
            <a:r>
              <a:rPr lang="en-US" sz="1400" dirty="0"/>
              <a:t>, </a:t>
            </a:r>
            <a:r>
              <a:rPr lang="en-US" sz="1400" i="1" dirty="0"/>
              <a:t>2</a:t>
            </a:r>
            <a:r>
              <a:rPr lang="en-US" sz="1400" dirty="0"/>
              <a:t>(4), 1-21.</a:t>
            </a:r>
          </a:p>
          <a:p>
            <a:pPr>
              <a:buFont typeface="+mj-lt"/>
              <a:buAutoNum type="arabicPeriod"/>
            </a:pPr>
            <a:r>
              <a:rPr lang="en-IN" sz="1400" dirty="0"/>
              <a:t>Razavi </a:t>
            </a:r>
            <a:r>
              <a:rPr lang="en-IN" sz="1400" dirty="0" err="1"/>
              <a:t>Termeh</a:t>
            </a:r>
            <a:r>
              <a:rPr lang="en-IN" sz="1400" dirty="0"/>
              <a:t>, V., &amp; Sadeghi </a:t>
            </a:r>
            <a:r>
              <a:rPr lang="en-IN" sz="1400" dirty="0" err="1"/>
              <a:t>Niaraki</a:t>
            </a:r>
            <a:r>
              <a:rPr lang="en-IN" sz="1400" dirty="0"/>
              <a:t>, A. (2015). Design and implementation of ubiquitous health system (u-health) using smart-watches sensors. </a:t>
            </a:r>
            <a:r>
              <a:rPr lang="en-IN" sz="1400" i="1" dirty="0"/>
              <a:t>The International Archives of the Photogrammetry, Remote Sensing and Spatial Information Sciences</a:t>
            </a:r>
            <a:r>
              <a:rPr lang="en-IN" sz="1400" dirty="0"/>
              <a:t>, </a:t>
            </a:r>
            <a:r>
              <a:rPr lang="en-IN" sz="1400" i="1" dirty="0"/>
              <a:t>40</a:t>
            </a:r>
            <a:r>
              <a:rPr lang="en-IN" sz="1400" dirty="0"/>
              <a:t>, 607-612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Roy, S. N., Srivastava, S. K., &amp; Gururajan, R. (2018). Integrating wearable devices and recommendation system: towards a next generation healthcare service delivery. </a:t>
            </a:r>
            <a:r>
              <a:rPr lang="en-US" sz="1400" i="1" dirty="0"/>
              <a:t>Journal of Information Technology Theory and Application (JITTA)</a:t>
            </a:r>
            <a:r>
              <a:rPr lang="en-US" sz="1400" dirty="0"/>
              <a:t>, </a:t>
            </a:r>
            <a:r>
              <a:rPr lang="en-US" sz="1400" i="1" dirty="0"/>
              <a:t>19</a:t>
            </a:r>
            <a:r>
              <a:rPr lang="en-US" sz="1400" dirty="0"/>
              <a:t>(4), 2.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Duarte, R. P., Alves, V. N., &amp; Mota, M. (2025). Designing Inclusive Smartwatch Interfaces: Guidelines for Enhancing Usability and Adoption Among Older Adults. </a:t>
            </a:r>
            <a:r>
              <a:rPr lang="en-US" sz="1400" i="1" dirty="0"/>
              <a:t>IEEE Access</a:t>
            </a:r>
            <a:r>
              <a:rPr lang="en-US" sz="1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Adapa, A., Nah, F. F. H., Hall, R. H., Siau, K., &amp; Smith, S. N. (2018). Factors influencing the adoption of smart wearable devices. </a:t>
            </a:r>
            <a:r>
              <a:rPr lang="en-US" sz="1400" i="1" dirty="0"/>
              <a:t>International Journal of Human–Computer Interaction</a:t>
            </a:r>
            <a:r>
              <a:rPr lang="en-US" sz="1400" dirty="0"/>
              <a:t>, </a:t>
            </a:r>
            <a:r>
              <a:rPr lang="en-US" sz="1400" i="1" dirty="0"/>
              <a:t>34</a:t>
            </a:r>
            <a:r>
              <a:rPr lang="en-US" sz="1400" dirty="0"/>
              <a:t>(5), 399-409.</a:t>
            </a:r>
            <a:endParaRPr lang="en-IN" sz="1400" dirty="0"/>
          </a:p>
          <a:p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13484473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4D6B907-DE99-43E7-9115-E1DCD1643D71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234</TotalTime>
  <Words>5302</Words>
  <Application>Microsoft Office PowerPoint</Application>
  <PresentationFormat>Widescreen</PresentationFormat>
  <Paragraphs>279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Algerian</vt:lpstr>
      <vt:lpstr>Arial</vt:lpstr>
      <vt:lpstr>Rockwell</vt:lpstr>
      <vt:lpstr>Rockwell Condensed</vt:lpstr>
      <vt:lpstr>Wingdings</vt:lpstr>
      <vt:lpstr>Wood Type</vt:lpstr>
      <vt:lpstr>RECOMMENDATION   OF SMARTWATCHES  SYSTEM </vt:lpstr>
      <vt:lpstr>15 Links</vt:lpstr>
      <vt:lpstr>PowerPoint Presentation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Priyanshu Yadav</dc:creator>
  <cp:lastModifiedBy>Priyanshu Yadav</cp:lastModifiedBy>
  <cp:revision>4</cp:revision>
  <dcterms:created xsi:type="dcterms:W3CDTF">2025-10-26T08:39:10Z</dcterms:created>
  <dcterms:modified xsi:type="dcterms:W3CDTF">2025-11-04T18:10:20Z</dcterms:modified>
</cp:coreProperties>
</file>